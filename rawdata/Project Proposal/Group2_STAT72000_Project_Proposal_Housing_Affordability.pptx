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3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5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Rubric: Motivation &amp; importance (proposal writing).</a:t>
            </a:r>
          </a:p>
          <a:p>
            <a:r>
              <a:rPr dirty="0"/>
              <a:t>Cite: Project requirements from course docs; dataset sources will be cited in References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sure to cite the dataset sources (CMHC + Statistics Canada) in the References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Replace placeholders with full citations (APA/IEEE/MLA ok—be consistent).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33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99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54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9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0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2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64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18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6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4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2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osit.co/" TargetMode="External"/><Relationship Id="rId3" Type="http://schemas.openxmlformats.org/officeDocument/2006/relationships/hyperlink" Target="https://www.cmhc-schl.gc.ca/" TargetMode="External"/><Relationship Id="rId7" Type="http://schemas.openxmlformats.org/officeDocument/2006/relationships/hyperlink" Target="https://www.r-project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anada.ca/en/immigration-refugees-citizenship/services/study-canada/study-permit/prepare/designated-learning-institutions-list.html" TargetMode="External"/><Relationship Id="rId5" Type="http://schemas.openxmlformats.org/officeDocument/2006/relationships/hyperlink" Target="https://www150.statcan.gc.ca/t1/tbl1/en/tv.action?pid=1110000801" TargetMode="External"/><Relationship Id="rId4" Type="http://schemas.openxmlformats.org/officeDocument/2006/relationships/hyperlink" Target="https://www.statcan.gc.ca/en/subjects-start/prices_and_price_indexes/consumer_price_indexe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759" y="889226"/>
            <a:ext cx="7703938" cy="2437569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rPr dirty="0"/>
              <a:t>Housing Affordability in Canada</a:t>
            </a:r>
          </a:p>
          <a:p>
            <a:r>
              <a:rPr sz="3600" i="1" dirty="0"/>
              <a:t>Rent</a:t>
            </a:r>
            <a:r>
              <a:rPr lang="en-CA" sz="3600" i="1" dirty="0"/>
              <a:t>  </a:t>
            </a:r>
            <a:r>
              <a:rPr sz="3600" i="1" dirty="0"/>
              <a:t>Trends, Structural Breaks &amp; Student‑Area Effects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193" y="3531204"/>
            <a:ext cx="7770504" cy="2437569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rPr i="1" dirty="0"/>
              <a:t>STAT72000 – Probability and Statistics (Course Project Proposal)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rPr i="1" dirty="0"/>
              <a:t>Group #: </a:t>
            </a:r>
            <a:r>
              <a:rPr lang="en-CA" i="1" dirty="0"/>
              <a:t>2</a:t>
            </a:r>
            <a:r>
              <a:rPr i="1" dirty="0"/>
              <a:t>  Section: 26W Sec 1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rPr lang="en-CA" i="1" dirty="0"/>
              <a:t>Group Members</a:t>
            </a:r>
            <a:r>
              <a:rPr i="1" dirty="0"/>
              <a:t>: </a:t>
            </a:r>
            <a:r>
              <a:rPr lang="en-CA" i="1" dirty="0"/>
              <a:t>Moutushi Sarkar (8960406), 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rPr lang="en-CA" i="1" dirty="0"/>
              <a:t>Ricardo Pineda Pelaez (</a:t>
            </a:r>
            <a:r>
              <a:rPr lang="en-CA" sz="1800" dirty="0"/>
              <a:t>9060330</a:t>
            </a:r>
            <a:r>
              <a:rPr lang="en-CA" i="1" dirty="0"/>
              <a:t>), Tanveer Singh Jandu (</a:t>
            </a:r>
            <a:r>
              <a:rPr lang="en-CA" sz="1800" dirty="0"/>
              <a:t>9054495</a:t>
            </a:r>
            <a:r>
              <a:rPr lang="en-CA" i="1" dirty="0"/>
              <a:t>)</a:t>
            </a:r>
            <a:endParaRPr i="1" dirty="0"/>
          </a:p>
          <a:p>
            <a:pPr>
              <a:defRPr sz="1800">
                <a:solidFill>
                  <a:srgbClr val="6B7280"/>
                </a:solidFill>
              </a:defRPr>
            </a:pPr>
            <a:r>
              <a:rPr i="1" dirty="0"/>
              <a:t>Date: February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Motiv</a:t>
            </a:r>
            <a:r>
              <a:rPr lang="en-CA" dirty="0"/>
              <a:t>a</a:t>
            </a:r>
            <a:r>
              <a:rPr dirty="0"/>
              <a:t>Tion &amp;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Canadian rents have risen sharply over the </a:t>
            </a:r>
            <a:r>
              <a:rPr lang="en-CA" sz="1800" dirty="0"/>
              <a:t>past two</a:t>
            </a:r>
            <a:r>
              <a:rPr sz="1800" dirty="0"/>
              <a:t> decade</a:t>
            </a:r>
            <a:r>
              <a:rPr lang="en-CA" sz="1800" dirty="0"/>
              <a:t>s</a:t>
            </a:r>
            <a:r>
              <a:rPr sz="1800" dirty="0"/>
              <a:t>, impacting household budgets.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Students and young Canadians (15–24) can be especially vulnerable to rent increases.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We will use statistical methods to quantify changes over time and identify when the crisis intensified.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Findings can support evidence-based discussion around affordability and resource planning.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852012" cy="3450613"/>
          </a:xfrm>
        </p:spPr>
        <p:txBody>
          <a:bodyPr>
            <a:noAutofit/>
          </a:bodyPr>
          <a:lstStyle/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How have average rents changed across Canadian cities (2010–2025)?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Is there a statistically significant upward shift (“jump year”) in rent levels?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Did rent growth outpace inflation (CPI) and youth income growth?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Do university/college cities show systematically higher rents or faster growth?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Can we group (cluster) cities into distinct rent-level or rent-growth profiles?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453" y="815539"/>
            <a:ext cx="7272141" cy="670053"/>
          </a:xfrm>
        </p:spPr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Background &amp;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3" y="2166228"/>
            <a:ext cx="40233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rPr dirty="0"/>
              <a:t>Primary Rent Data (CMHC)</a:t>
            </a:r>
          </a:p>
          <a:p>
            <a:pPr indent="444500">
              <a:defRPr sz="1800">
                <a:solidFill>
                  <a:srgbClr val="1F2937"/>
                </a:solidFill>
              </a:defRPr>
            </a:pPr>
            <a:r>
              <a:rPr dirty="0"/>
              <a:t>Rental Market Survey (RMS)</a:t>
            </a:r>
            <a:endParaRPr lang="en-CA" dirty="0"/>
          </a:p>
          <a:p>
            <a:pPr>
              <a:defRPr sz="1800">
                <a:solidFill>
                  <a:srgbClr val="1F2937"/>
                </a:solidFill>
              </a:defRPr>
            </a:pP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Multiple rent observations per city/year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Neighborhood / building-level reading</a:t>
            </a:r>
            <a:r>
              <a:rPr lang="en-CA" dirty="0"/>
              <a:t> </a:t>
            </a:r>
            <a:r>
              <a:rPr dirty="0"/>
              <a:t>enable boxplots &amp;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6541" y="2166228"/>
            <a:ext cx="493372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rPr dirty="0"/>
              <a:t>Context Data (Statistics Canada + Tags)</a:t>
            </a:r>
          </a:p>
          <a:p>
            <a:pPr marL="361950" indent="82550">
              <a:defRPr sz="1800">
                <a:solidFill>
                  <a:srgbClr val="1F2937"/>
                </a:solidFill>
              </a:defRPr>
            </a:pPr>
            <a:r>
              <a:rPr dirty="0"/>
              <a:t>Statistics Canada</a:t>
            </a:r>
            <a:endParaRPr lang="en-CA" dirty="0"/>
          </a:p>
          <a:p>
            <a:pPr>
              <a:defRPr sz="1800">
                <a:solidFill>
                  <a:srgbClr val="1F2937"/>
                </a:solidFill>
              </a:defRPr>
            </a:pPr>
            <a:endParaRPr dirty="0"/>
          </a:p>
          <a:p>
            <a:pPr marL="898525" lvl="1" indent="-2730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CPI (inflation): shelter, food, tuition </a:t>
            </a:r>
            <a:endParaRPr lang="en-CA" dirty="0"/>
          </a:p>
          <a:p>
            <a:pPr marL="898525" lvl="1" indent="-2730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Median after-tax income for youth (15–24)</a:t>
            </a:r>
          </a:p>
          <a:p>
            <a:pPr marL="898525" lvl="1" indent="-2730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CMA-level rent tables (if required)</a:t>
            </a:r>
          </a:p>
          <a:p>
            <a:pPr indent="444500">
              <a:defRPr sz="1800">
                <a:solidFill>
                  <a:srgbClr val="1F2937"/>
                </a:solidFill>
              </a:defRPr>
            </a:pPr>
            <a:endParaRPr lang="en-CA" dirty="0"/>
          </a:p>
          <a:p>
            <a:pPr indent="444500">
              <a:defRPr sz="1800">
                <a:solidFill>
                  <a:srgbClr val="1F2937"/>
                </a:solidFill>
              </a:defRPr>
            </a:pPr>
            <a:r>
              <a:rPr dirty="0"/>
              <a:t>University/College Lists</a:t>
            </a:r>
            <a:endParaRPr lang="en-CA" dirty="0"/>
          </a:p>
          <a:p>
            <a:pPr indent="444500">
              <a:defRPr sz="1800">
                <a:solidFill>
                  <a:srgbClr val="1F2937"/>
                </a:solidFill>
              </a:defRPr>
            </a:pPr>
            <a:endParaRPr dirty="0"/>
          </a:p>
          <a:p>
            <a:pPr marL="898525" lvl="1" indent="-2730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lang="en-CA" dirty="0"/>
              <a:t>T</a:t>
            </a:r>
            <a:r>
              <a:rPr dirty="0"/>
              <a:t>ag “university cities” vs “non‑university cities”</a:t>
            </a:r>
          </a:p>
          <a:p>
            <a:pPr marL="898525" lvl="1" indent="-273050"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dirty="0"/>
              <a:t>Simple city-name matching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dirty="0"/>
              <a:t>Describe rent distributions over time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Summary statistics: mean, median, variance, standard deviation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Visualizations: time-series lines, histograms, density plots, boxplots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dirty="0"/>
              <a:t>Identify structural breaks in rent levels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Test candidate break years; compare pre/post distributions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Report p-values / effect sizes where applicable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dirty="0"/>
              <a:t>Assess student‑area effects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Compare university vs non‑university cities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Cluster cities by rent level and rent growth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dirty="0"/>
              <a:t>Measure rent burden for youth (15–24)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Rent Burden = Average Rent / Median Income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Methodology (Planned Statistical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949830"/>
            <a:ext cx="6571343" cy="4037747"/>
          </a:xfrm>
        </p:spPr>
        <p:txBody>
          <a:bodyPr>
            <a:normAutofit fontScale="25000" lnSpcReduction="20000"/>
          </a:bodyPr>
          <a:lstStyle/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Data preparation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Cleaning, missing-value handling, and consistent city/year alignment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Create derived metrics: rent growth, rent burden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Inference &amp; comparisons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Two-sample comparisons (e.g., t-test or nonparametric alternative)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ANOVA-style comparisons if multiple groups are compared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Confidence intervals where appropriate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Structural break detection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Compare multiple candidate break years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Evaluate significance of level shift and distribution change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Clustering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Feature engineering: average rent, growth rate, burden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Clustering (e.g., k-means / hierarchical) and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573861"/>
            <a:ext cx="6571343" cy="1049235"/>
          </a:xfrm>
        </p:spPr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Planned Visualizations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9456"/>
            <a:ext cx="6571343" cy="4154408"/>
          </a:xfrm>
        </p:spPr>
        <p:txBody>
          <a:bodyPr>
            <a:normAutofit fontScale="25000" lnSpcReduction="20000"/>
          </a:bodyPr>
          <a:lstStyle/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Time series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Average rent over time (by city / aggregated)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Rent burden over time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Rent vs CPI shelter index (dual-axis or standardized)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Distributions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Yearly boxplots (2010–2024)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University vs non‑university city boxplots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Histograms / density plots for selected cities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Structural break visuals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Line plot with candidate break-year markers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Bar chart of p-values for candidate break years</a:t>
            </a:r>
          </a:p>
          <a:p>
            <a:pPr marL="271463" indent="-271463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6400" dirty="0"/>
              <a:t>Clustering visuals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Scatter plot of city groups by rent/growth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sz="5600" dirty="0"/>
              <a:t>Optional: latitude/longitude scatter with rent as size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Project Plan /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2100" dirty="0"/>
              <a:t>Week 1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Collect datasets, document sources, initial cleaning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2100" dirty="0"/>
              <a:t>Week 2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Descriptive statistics + core visualizations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2100" dirty="0"/>
              <a:t>Week 3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Structural break testing + university-city comparison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2100" dirty="0"/>
              <a:t>Week 4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Clustering + interpretation + draft final report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2100" dirty="0"/>
              <a:t>Week 5</a:t>
            </a:r>
          </a:p>
          <a:p>
            <a:pPr lvl="1">
              <a:defRPr sz="1800">
                <a:solidFill>
                  <a:srgbClr val="1F2937"/>
                </a:solidFill>
              </a:defRPr>
            </a:pPr>
            <a:r>
              <a:rPr dirty="0"/>
              <a:t>Polish visuals, finalize report, package code &amp; data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Expected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Well-documented source code </a:t>
            </a:r>
            <a:r>
              <a:rPr lang="en-CA" sz="1800" dirty="0"/>
              <a:t>in R Studio </a:t>
            </a:r>
            <a:r>
              <a:rPr sz="1800" dirty="0"/>
              <a:t>and cleaned datasets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lang="en-CA" sz="1800" dirty="0"/>
              <a:t>Final </a:t>
            </a:r>
            <a:r>
              <a:rPr sz="1800" dirty="0"/>
              <a:t>report</a:t>
            </a:r>
            <a:r>
              <a:rPr lang="en-CA" sz="1800" dirty="0"/>
              <a:t> in MS Word</a:t>
            </a:r>
            <a:r>
              <a:rPr sz="1800" dirty="0"/>
              <a:t> (methods, results, discussion, limitations)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Figures: trend lines, boxplots, distributions, break analysis, clustering</a:t>
            </a:r>
          </a:p>
          <a:p>
            <a:pPr marL="361950" indent="-361950">
              <a:buFont typeface="Wingdings" panose="05000000000000000000" pitchFamily="2" charset="2"/>
              <a:buChar char="v"/>
              <a:defRPr sz="2000">
                <a:solidFill>
                  <a:srgbClr val="1F2937"/>
                </a:solidFill>
              </a:defRPr>
            </a:pPr>
            <a:r>
              <a:rPr sz="1800" dirty="0"/>
              <a:t>Clear interpretation: what changed, when, and which city groups differ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934996"/>
            <a:ext cx="6571343" cy="735956"/>
          </a:xfrm>
        </p:spPr>
        <p:txBody>
          <a:bodyPr/>
          <a:lstStyle/>
          <a:p>
            <a:pPr>
              <a:defRPr b="1">
                <a:solidFill>
                  <a:srgbClr val="111827"/>
                </a:solidFill>
              </a:defRPr>
            </a:pPr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787852"/>
            <a:ext cx="7445136" cy="4069249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CA" sz="1400" b="1" dirty="0"/>
              <a:t>CMHC – Rental Market Survey (RMS)</a:t>
            </a:r>
            <a:r>
              <a:rPr lang="en-CA" sz="1400" dirty="0"/>
              <a:t>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CA" sz="1400" dirty="0"/>
              <a:t>	Canada Mortgage and Housing Corporation. (2024). Rental Market Survey: Data tables and methodology. CMHC Housing Market Information </a:t>
            </a:r>
            <a:r>
              <a:rPr lang="en-CA" sz="1400" dirty="0">
                <a:hlinkClick r:id="rId3"/>
              </a:rPr>
              <a:t>link</a:t>
            </a:r>
            <a:endParaRPr lang="en-CA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CA" sz="1400" dirty="0"/>
              <a:t>	Canada Mortgage and Housing Corporation. (2024). Rental Market Survey methodology report. </a:t>
            </a:r>
            <a:r>
              <a:rPr lang="en-CA" sz="1400" dirty="0">
                <a:hlinkClick r:id="rId3"/>
              </a:rPr>
              <a:t>link</a:t>
            </a:r>
            <a:endParaRPr lang="en-CA" sz="14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CA" sz="1400" b="1" dirty="0"/>
              <a:t>Statistics Canada – CPI and Income Tables Statistics Canada. (2024).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CA" sz="1400" b="1" dirty="0"/>
              <a:t>	</a:t>
            </a:r>
            <a:r>
              <a:rPr lang="en-CA" sz="1400" dirty="0"/>
              <a:t>Consumer Price Index (CPI) Portal. </a:t>
            </a:r>
            <a:r>
              <a:rPr lang="en-CA" sz="1400" dirty="0">
                <a:hlinkClick r:id="rId4"/>
              </a:rPr>
              <a:t>link</a:t>
            </a:r>
            <a:r>
              <a:rPr lang="en-CA" sz="1400" dirty="0"/>
              <a:t> (statcan.gc.ca in Bing)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CA" sz="1400" dirty="0"/>
              <a:t>	Statistics Canada. (2024). Table 11‑10‑0008‑01: After‑tax income of households. </a:t>
            </a:r>
            <a:r>
              <a:rPr lang="en-CA" sz="1400" dirty="0">
                <a:hlinkClick r:id="rId5"/>
              </a:rPr>
              <a:t>link</a:t>
            </a:r>
            <a:r>
              <a:rPr lang="en-CA" sz="1400" dirty="0"/>
              <a:t> 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CA" sz="1400" b="1" dirty="0"/>
              <a:t>Public University / College Lists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CA" sz="1400" b="1" dirty="0"/>
              <a:t>	</a:t>
            </a:r>
            <a:r>
              <a:rPr lang="en-CA" sz="1400" dirty="0"/>
              <a:t>Government of Canada. (2024). Designated learning institutions list. </a:t>
            </a:r>
            <a:r>
              <a:rPr lang="en-CA" sz="1400" dirty="0">
                <a:hlinkClick r:id="rId6"/>
              </a:rPr>
              <a:t>link</a:t>
            </a:r>
            <a:endParaRPr lang="en-CA" sz="14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v"/>
            </a:pPr>
            <a:r>
              <a:rPr lang="en-CA" sz="1400" b="1" dirty="0"/>
              <a:t>Software – R, RStudio, and Methods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CA" sz="1400" b="1" dirty="0"/>
              <a:t>	</a:t>
            </a:r>
            <a:r>
              <a:rPr lang="en-CA" sz="1400" dirty="0"/>
              <a:t>R Core Team. (2024). R: A language and environment for statistical computing. R Foundation for Statistical Computing. </a:t>
            </a:r>
            <a:r>
              <a:rPr lang="en-CA" sz="1400" dirty="0">
                <a:hlinkClick r:id="rId7"/>
              </a:rPr>
              <a:t>link</a:t>
            </a:r>
            <a:endParaRPr lang="en-CA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CA" sz="1400" dirty="0"/>
              <a:t>	Posit Team. RStudio: Integrated development environment for R. Posit Software, PBC. </a:t>
            </a:r>
            <a:r>
              <a:rPr lang="en-CA" sz="1400" dirty="0">
                <a:hlinkClick r:id="rId8"/>
              </a:rPr>
              <a:t>link</a:t>
            </a:r>
            <a:endParaRPr lang="en-CA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533400"/>
            <a:ext cx="6809874" cy="5077326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763203"/>
            <a:ext cx="6467094" cy="46177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Question Ppt Powerpoint Presentation File Pictures | PPT Images Gallery |  PowerPoint Slide Show | PowerPoint Presentation Templates">
            <a:extLst>
              <a:ext uri="{FF2B5EF4-FFF2-40B4-BE49-F238E27FC236}">
                <a16:creationId xmlns:a16="http://schemas.microsoft.com/office/drawing/2014/main" id="{7FA947BD-CA3C-1A48-3CD6-DD9CC5472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927" y="1457647"/>
            <a:ext cx="5740146" cy="322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221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</TotalTime>
  <Words>876</Words>
  <Application>Microsoft Office PowerPoint</Application>
  <PresentationFormat>On-screen Show (4:3)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Housing Affordability in Canada Rent  Trends, Structural Breaks &amp; Student‑Area Effects</vt:lpstr>
      <vt:lpstr>MotivaTion &amp; Importance</vt:lpstr>
      <vt:lpstr>Research Questions</vt:lpstr>
      <vt:lpstr>Background &amp; Data Sources</vt:lpstr>
      <vt:lpstr>Project Objectives</vt:lpstr>
      <vt:lpstr>Methodology (Planned Statistical Tools)</vt:lpstr>
      <vt:lpstr>Planned Visualizations (Examples)</vt:lpstr>
      <vt:lpstr>Project Plan / Timeline</vt:lpstr>
      <vt:lpstr>Expected Deliverables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Moutushi Sarkar</cp:lastModifiedBy>
  <cp:revision>31</cp:revision>
  <dcterms:created xsi:type="dcterms:W3CDTF">2013-01-27T09:14:16Z</dcterms:created>
  <dcterms:modified xsi:type="dcterms:W3CDTF">2026-02-21T17:40:24Z</dcterms:modified>
  <cp:category/>
</cp:coreProperties>
</file>